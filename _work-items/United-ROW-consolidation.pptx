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6E"/>
        </a:solidFill>
      </p:bgPr>
    </p:bg>
    <p:spTree>
      <p:nvGrpSpPr>
        <p:cNvPr id="1" name=""/>
        <p:cNvGrpSpPr/>
        <p:nvPr/>
      </p:nvGrpSpPr>
      <p:grpSpPr>
        <a:xfrm>
          <a:off x="0" y="0"/>
          <a:ext cx="0" cy="0"/>
          <a:chOff x="0" y="0"/>
          <a:chExt cx="0" cy="0"/>
        </a:xfrm>
      </p:grpSpPr>
      <p:sp>
        <p:nvSpPr>
          <p:cNvPr id="2" name="Shape 0"/>
          <p:cNvSpPr/>
          <p:nvPr/>
        </p:nvSpPr>
        <p:spPr>
          <a:xfrm>
            <a:off x="0" y="6729984"/>
            <a:ext cx="12191695" cy="128016"/>
          </a:xfrm>
          <a:prstGeom prst="rect">
            <a:avLst/>
          </a:prstGeom>
          <a:solidFill>
            <a:srgbClr val="64C5B9"/>
          </a:solidFill>
          <a:ln/>
        </p:spPr>
      </p:sp>
      <p:pic>
        <p:nvPicPr>
          <p:cNvPr id="3" name="Image 0" descr="C:\Users\STUART.SANTOS\AppData\Local\Temp\claude\C--Users-STUART-SANTOS-OneDrive---Zurich-Insurance-emails-new\53a2f86d-ba6a-427d-9f25-b45ae11190e0\scratchpad\logo-white.png">    </p:cNvPr>
          <p:cNvPicPr>
            <a:picLocks noChangeAspect="1"/>
          </p:cNvPicPr>
          <p:nvPr/>
        </p:nvPicPr>
        <p:blipFill>
          <a:blip r:embed="rId1"/>
          <a:stretch>
            <a:fillRect/>
          </a:stretch>
        </p:blipFill>
        <p:spPr>
          <a:xfrm>
            <a:off x="566928" y="502920"/>
            <a:ext cx="2468880" cy="737006"/>
          </a:xfrm>
          <a:prstGeom prst="rect">
            <a:avLst/>
          </a:prstGeom>
        </p:spPr>
      </p:pic>
      <p:sp>
        <p:nvSpPr>
          <p:cNvPr id="4" name="Text 1"/>
          <p:cNvSpPr/>
          <p:nvPr/>
        </p:nvSpPr>
        <p:spPr>
          <a:xfrm>
            <a:off x="594360" y="2148840"/>
            <a:ext cx="10058400" cy="365760"/>
          </a:xfrm>
          <a:prstGeom prst="rect">
            <a:avLst/>
          </a:prstGeom>
          <a:noFill/>
          <a:ln/>
        </p:spPr>
        <p:txBody>
          <a:bodyPr wrap="square" rtlCol="0" anchor="ctr"/>
          <a:lstStyle/>
          <a:p>
            <a:pPr indent="0" marL="0">
              <a:buNone/>
            </a:pPr>
            <a:r>
              <a:rPr lang="en-US" sz="1300" b="1" spc="300" kern="0" dirty="0">
                <a:solidFill>
                  <a:srgbClr val="64C5B9"/>
                </a:solidFill>
                <a:latin typeface="Noto Sans" pitchFamily="34" charset="0"/>
                <a:ea typeface="Noto Sans" pitchFamily="34" charset="-122"/>
                <a:cs typeface="Noto Sans" pitchFamily="34" charset="-120"/>
              </a:rPr>
              <a:t>TEMPLATE CONSOLIDATION  ·  PROPOSAL</a:t>
            </a:r>
            <a:endParaRPr lang="en-US" sz="1300" dirty="0"/>
          </a:p>
        </p:txBody>
      </p:sp>
      <p:sp>
        <p:nvSpPr>
          <p:cNvPr id="5" name="Text 2"/>
          <p:cNvSpPr/>
          <p:nvPr/>
        </p:nvSpPr>
        <p:spPr>
          <a:xfrm>
            <a:off x="566928" y="2514600"/>
            <a:ext cx="9601200" cy="1554480"/>
          </a:xfrm>
          <a:prstGeom prst="rect">
            <a:avLst/>
          </a:prstGeom>
          <a:noFill/>
          <a:ln/>
        </p:spPr>
        <p:txBody>
          <a:bodyPr wrap="square" rtlCol="0" anchor="ctr"/>
          <a:lstStyle/>
          <a:p>
            <a:pPr indent="0" marL="0">
              <a:lnSpc>
                <a:spcPct val="102000"/>
              </a:lnSpc>
              <a:buNone/>
            </a:pPr>
            <a:r>
              <a:rPr lang="en-US" sz="4000" b="1" dirty="0">
                <a:solidFill>
                  <a:srgbClr val="FFFFFF"/>
                </a:solidFill>
                <a:latin typeface="Noto Sans" pitchFamily="34" charset="0"/>
                <a:ea typeface="Noto Sans" pitchFamily="34" charset="-122"/>
                <a:cs typeface="Noto Sans" pitchFamily="34" charset="-120"/>
              </a:rPr>
              <a:t>One shared template.</a:t>
            </a:r>
            <a:endParaRPr lang="en-US" sz="4000" dirty="0"/>
          </a:p>
          <a:p>
            <a:pPr indent="0" marL="0">
              <a:lnSpc>
                <a:spcPct val="102000"/>
              </a:lnSpc>
              <a:buNone/>
            </a:pPr>
            <a:r>
              <a:rPr lang="en-US" sz="4000" b="1" dirty="0">
                <a:solidFill>
                  <a:srgbClr val="FFFFFF"/>
                </a:solidFill>
                <a:latin typeface="Noto Sans" pitchFamily="34" charset="0"/>
                <a:ea typeface="Noto Sans" pitchFamily="34" charset="-122"/>
                <a:cs typeface="Noto Sans" pitchFamily="34" charset="-120"/>
              </a:rPr>
              <a:t>United's specifics, preserved.</a:t>
            </a:r>
            <a:endParaRPr lang="en-US" sz="4000" dirty="0"/>
          </a:p>
        </p:txBody>
      </p:sp>
      <p:sp>
        <p:nvSpPr>
          <p:cNvPr id="6" name="Text 3"/>
          <p:cNvSpPr/>
          <p:nvPr/>
        </p:nvSpPr>
        <p:spPr>
          <a:xfrm>
            <a:off x="594360" y="4343400"/>
            <a:ext cx="8595360" cy="1005840"/>
          </a:xfrm>
          <a:prstGeom prst="rect">
            <a:avLst/>
          </a:prstGeom>
          <a:noFill/>
          <a:ln/>
        </p:spPr>
        <p:txBody>
          <a:bodyPr wrap="square" rtlCol="0" anchor="ctr"/>
          <a:lstStyle/>
          <a:p>
            <a:pPr indent="0" marL="0">
              <a:lnSpc>
                <a:spcPct val="125000"/>
              </a:lnSpc>
              <a:buNone/>
            </a:pPr>
            <a:r>
              <a:rPr lang="en-US" sz="1600" dirty="0">
                <a:solidFill>
                  <a:srgbClr val="C6DDF0"/>
                </a:solidFill>
                <a:latin typeface="Noto Sans" pitchFamily="34" charset="0"/>
                <a:ea typeface="Noto Sans" pitchFamily="34" charset="-122"/>
                <a:cs typeface="Noto Sans" pitchFamily="34" charset="-120"/>
              </a:rPr>
              <a:t>The US United policy-confirmation email and the modern ROW template already share ~90% of their copy. Here are the two emails side by side — with United's own paragraphs carried over, and nothing lost.</a:t>
            </a:r>
            <a:endParaRPr lang="en-US" sz="1600" dirty="0"/>
          </a:p>
        </p:txBody>
      </p:sp>
      <p:sp>
        <p:nvSpPr>
          <p:cNvPr id="7" name="Shape 4"/>
          <p:cNvSpPr/>
          <p:nvPr/>
        </p:nvSpPr>
        <p:spPr>
          <a:xfrm>
            <a:off x="594360" y="5806440"/>
            <a:ext cx="4160520" cy="457200"/>
          </a:xfrm>
          <a:prstGeom prst="roundRect">
            <a:avLst>
              <a:gd name="adj" fmla="val 12000"/>
            </a:avLst>
          </a:prstGeom>
          <a:solidFill>
            <a:srgbClr val="0E2F4E"/>
          </a:solidFill>
          <a:ln w="12700">
            <a:solidFill>
              <a:srgbClr val="1E4A70"/>
            </a:solidFill>
            <a:prstDash val="solid"/>
          </a:ln>
        </p:spPr>
      </p:sp>
      <p:sp>
        <p:nvSpPr>
          <p:cNvPr id="8" name="Text 5"/>
          <p:cNvSpPr/>
          <p:nvPr/>
        </p:nvSpPr>
        <p:spPr>
          <a:xfrm>
            <a:off x="594360" y="5806440"/>
            <a:ext cx="4160520" cy="457200"/>
          </a:xfrm>
          <a:prstGeom prst="rect">
            <a:avLst/>
          </a:prstGeom>
          <a:noFill/>
          <a:ln/>
        </p:spPr>
        <p:txBody>
          <a:bodyPr wrap="square" rtlCol="0" anchor="ctr"/>
          <a:lstStyle/>
          <a:p>
            <a:pPr algn="ctr" indent="0" marL="0">
              <a:buNone/>
            </a:pPr>
            <a:r>
              <a:rPr lang="en-US" sz="1150" dirty="0">
                <a:solidFill>
                  <a:srgbClr val="BFE0F5"/>
                </a:solidFill>
                <a:latin typeface="Consolas" pitchFamily="34" charset="0"/>
                <a:ea typeface="Consolas" pitchFamily="34" charset="-122"/>
                <a:cs typeface="Consolas" pitchFamily="34" charset="-120"/>
              </a:rPr>
              <a:t>united/us/en/policy-confirmation.html</a:t>
            </a:r>
            <a:endParaRPr lang="en-US" sz="1150" dirty="0"/>
          </a:p>
        </p:txBody>
      </p:sp>
      <p:sp>
        <p:nvSpPr>
          <p:cNvPr id="9" name="Text 6"/>
          <p:cNvSpPr/>
          <p:nvPr/>
        </p:nvSpPr>
        <p:spPr>
          <a:xfrm>
            <a:off x="4846320" y="5806440"/>
            <a:ext cx="457200" cy="457200"/>
          </a:xfrm>
          <a:prstGeom prst="rect">
            <a:avLst/>
          </a:prstGeom>
          <a:noFill/>
          <a:ln/>
        </p:spPr>
        <p:txBody>
          <a:bodyPr wrap="square" rtlCol="0" anchor="ctr"/>
          <a:lstStyle/>
          <a:p>
            <a:pPr algn="ctr" indent="0" marL="0">
              <a:buNone/>
            </a:pPr>
            <a:r>
              <a:rPr lang="en-US" sz="2000" b="1" dirty="0">
                <a:solidFill>
                  <a:srgbClr val="64C5B9"/>
                </a:solidFill>
                <a:latin typeface="Noto Sans" pitchFamily="34" charset="0"/>
                <a:ea typeface="Noto Sans" pitchFamily="34" charset="-122"/>
                <a:cs typeface="Noto Sans" pitchFamily="34" charset="-120"/>
              </a:rPr>
              <a:t>→</a:t>
            </a:r>
            <a:endParaRPr lang="en-US" sz="2000" dirty="0"/>
          </a:p>
        </p:txBody>
      </p:sp>
      <p:sp>
        <p:nvSpPr>
          <p:cNvPr id="10" name="Shape 7"/>
          <p:cNvSpPr/>
          <p:nvPr/>
        </p:nvSpPr>
        <p:spPr>
          <a:xfrm>
            <a:off x="5349240" y="5806440"/>
            <a:ext cx="4160520" cy="457200"/>
          </a:xfrm>
          <a:prstGeom prst="roundRect">
            <a:avLst>
              <a:gd name="adj" fmla="val 12000"/>
            </a:avLst>
          </a:prstGeom>
          <a:solidFill>
            <a:srgbClr val="0E2F4E"/>
          </a:solidFill>
          <a:ln w="12700">
            <a:solidFill>
              <a:srgbClr val="1E4A70"/>
            </a:solidFill>
            <a:prstDash val="solid"/>
          </a:ln>
        </p:spPr>
      </p:sp>
      <p:sp>
        <p:nvSpPr>
          <p:cNvPr id="11" name="Text 8"/>
          <p:cNvSpPr/>
          <p:nvPr/>
        </p:nvSpPr>
        <p:spPr>
          <a:xfrm>
            <a:off x="5349240" y="5806440"/>
            <a:ext cx="4160520" cy="457200"/>
          </a:xfrm>
          <a:prstGeom prst="rect">
            <a:avLst/>
          </a:prstGeom>
          <a:noFill/>
          <a:ln/>
        </p:spPr>
        <p:txBody>
          <a:bodyPr wrap="square" rtlCol="0" anchor="ctr"/>
          <a:lstStyle/>
          <a:p>
            <a:pPr algn="ctr" indent="0" marL="0">
              <a:buNone/>
            </a:pPr>
            <a:r>
              <a:rPr lang="en-US" sz="1150" dirty="0">
                <a:solidFill>
                  <a:srgbClr val="BFE0F5"/>
                </a:solidFill>
                <a:latin typeface="Consolas" pitchFamily="34" charset="0"/>
                <a:ea typeface="Consolas" pitchFamily="34" charset="-122"/>
                <a:cs typeface="Consolas" pitchFamily="34" charset="-120"/>
              </a:rPr>
              <a:t>row/us/en/policy-confirmation.html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6FB"/>
        </a:solidFill>
      </p:bgPr>
    </p:bg>
    <p:spTree>
      <p:nvGrpSpPr>
        <p:cNvPr id="1" name=""/>
        <p:cNvGrpSpPr/>
        <p:nvPr/>
      </p:nvGrpSpPr>
      <p:grpSpPr>
        <a:xfrm>
          <a:off x="0" y="0"/>
          <a:ext cx="0" cy="0"/>
          <a:chOff x="0" y="0"/>
          <a:chExt cx="0" cy="0"/>
        </a:xfrm>
      </p:grpSpPr>
      <p:sp>
        <p:nvSpPr>
          <p:cNvPr id="2" name="Text 0"/>
          <p:cNvSpPr/>
          <p:nvPr/>
        </p:nvSpPr>
        <p:spPr>
          <a:xfrm>
            <a:off x="457200" y="292608"/>
            <a:ext cx="8229600" cy="502920"/>
          </a:xfrm>
          <a:prstGeom prst="rect">
            <a:avLst/>
          </a:prstGeom>
          <a:noFill/>
          <a:ln/>
        </p:spPr>
        <p:txBody>
          <a:bodyPr wrap="square" rtlCol="0" anchor="ctr"/>
          <a:lstStyle/>
          <a:p>
            <a:pPr indent="0" marL="0">
              <a:buNone/>
            </a:pPr>
            <a:r>
              <a:rPr lang="en-US" sz="2500" b="1" dirty="0">
                <a:solidFill>
                  <a:srgbClr val="003D6E"/>
                </a:solidFill>
                <a:latin typeface="Noto Sans" pitchFamily="34" charset="0"/>
                <a:ea typeface="Noto Sans" pitchFamily="34" charset="-122"/>
                <a:cs typeface="Noto Sans" pitchFamily="34" charset="-120"/>
              </a:rPr>
              <a:t>The two emails, side by side</a:t>
            </a:r>
            <a:endParaRPr lang="en-US" sz="2500" dirty="0"/>
          </a:p>
        </p:txBody>
      </p:sp>
      <p:sp>
        <p:nvSpPr>
          <p:cNvPr id="3" name="Text 1"/>
          <p:cNvSpPr/>
          <p:nvPr/>
        </p:nvSpPr>
        <p:spPr>
          <a:xfrm>
            <a:off x="457200" y="841248"/>
            <a:ext cx="10972800" cy="320040"/>
          </a:xfrm>
          <a:prstGeom prst="rect">
            <a:avLst/>
          </a:prstGeom>
          <a:noFill/>
          <a:ln/>
        </p:spPr>
        <p:txBody>
          <a:bodyPr wrap="square" rtlCol="0" anchor="ctr"/>
          <a:lstStyle/>
          <a:p>
            <a:pPr algn="l" indent="0" marL="0">
              <a:buNone/>
            </a:pPr>
            <a:r>
              <a:rPr lang="en-US" sz="1300" b="1" dirty="0">
                <a:solidFill>
                  <a:srgbClr val="2167AE"/>
                </a:solidFill>
                <a:latin typeface="Noto Sans" pitchFamily="34" charset="0"/>
                <a:ea typeface="Noto Sans" pitchFamily="34" charset="-122"/>
                <a:cs typeface="Noto Sans" pitchFamily="34" charset="-120"/>
              </a:rPr>
              <a:t>■ </a:t>
            </a:r>
            <a:pPr algn="l" indent="0" marL="0">
              <a:buNone/>
            </a:pPr>
            <a:r>
              <a:rPr lang="en-US" sz="1200" dirty="0">
                <a:solidFill>
                  <a:srgbClr val="555B62"/>
                </a:solidFill>
                <a:latin typeface="Noto Sans" pitchFamily="34" charset="0"/>
                <a:ea typeface="Noto Sans" pitchFamily="34" charset="-122"/>
                <a:cs typeface="Noto Sans" pitchFamily="34" charset="-120"/>
              </a:rPr>
              <a:t>United-only — carried over for United      </a:t>
            </a:r>
            <a:pPr algn="l" indent="0" marL="0">
              <a:buNone/>
            </a:pPr>
            <a:r>
              <a:rPr lang="en-US" sz="1300" b="1" dirty="0">
                <a:solidFill>
                  <a:srgbClr val="32928E"/>
                </a:solidFill>
                <a:latin typeface="Noto Sans" pitchFamily="34" charset="0"/>
                <a:ea typeface="Noto Sans" pitchFamily="34" charset="-122"/>
                <a:cs typeface="Noto Sans" pitchFamily="34" charset="-120"/>
              </a:rPr>
              <a:t>■ </a:t>
            </a:r>
            <a:pPr algn="l" indent="0" marL="0">
              <a:buNone/>
            </a:pPr>
            <a:r>
              <a:rPr lang="en-US" sz="1200" dirty="0">
                <a:solidFill>
                  <a:srgbClr val="555B62"/>
                </a:solidFill>
                <a:latin typeface="Noto Sans" pitchFamily="34" charset="0"/>
                <a:ea typeface="Noto Sans" pitchFamily="34" charset="-122"/>
                <a:cs typeface="Noto Sans" pitchFamily="34" charset="-120"/>
              </a:rPr>
              <a:t>ROW-only — not used for United</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5486400" cy="914400"/>
        </p:xfrm>
        <a:graphic>
          <a:graphicData uri="http://schemas.openxmlformats.org/drawingml/2006/table">
            <a:tbl>
              <a:tblPr/>
              <a:tblGrid>
                <a:gridCol w="5486400"/>
              </a:tblGrid>
              <a:tr h="0">
                <a:tc>
                  <a:txBody>
                    <a:bodyPr/>
                    <a:lstStyle/>
                    <a:p>
                      <a:pPr indent="0" marL="0">
                        <a:buNone/>
                      </a:pPr>
                      <a:r>
                        <a:rPr lang="en-US" sz="1300" b="1" dirty="0">
                          <a:solidFill>
                            <a:srgbClr val="FFFFFF"/>
                          </a:solidFill>
                          <a:latin typeface="Noto Sans" pitchFamily="34" charset="0"/>
                          <a:ea typeface="Noto Sans" pitchFamily="34" charset="-122"/>
                          <a:cs typeface="Noto Sans" pitchFamily="34" charset="-120"/>
                        </a:rPr>
                        <a:t>United — copy today</a:t>
                      </a:r>
                      <a:endParaRPr lang="en-US" sz="1300" dirty="0">
                        <a:latin typeface="Noto Sans" charset="0"/>
                        <a:ea typeface="Noto Sans" charset="0"/>
                        <a:cs typeface="Noto Sans" charset="0"/>
                      </a:endParaRPr>
                    </a:p>
                  </a:txBody>
                  <a:tcPr marL="152400" marR="127000" marT="88900" marB="88900" anchor="ctr">
                    <a:lnL w="0" cap="flat" cmpd="sng" algn="ctr">
                      <a:noFill/>
                    </a:lnL>
                    <a:lnR w="0" cap="flat" cmpd="sng" algn="ctr">
                      <a:noFill/>
                    </a:lnR>
                    <a:lnT w="0" cap="flat" cmpd="sng" algn="ctr">
                      <a:noFill/>
                    </a:lnT>
                    <a:lnB w="0" cap="flat" cmpd="sng" algn="ctr">
                      <a:noFill/>
                    </a:lnB>
                    <a:solidFill>
                      <a:srgbClr val="003D6E"/>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Hello {{primaryInsured}}, thank you for purchasing a Travel Guard® travel insurance plan.</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Your policy number is: {{policyNumber}}</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Please review your Policy of Insurance by clicking on the “Policy of Insurance” link at the top of your policy summary page which can be accessed ¹here.</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Need to file a claim? You can now file a claim online. Click here to get started.</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750" b="1" spc="100" kern="0" dirty="0">
                          <a:solidFill>
                            <a:srgbClr val="2167AE"/>
                          </a:solidFill>
                          <a:latin typeface="Noto Sans" pitchFamily="34" charset="0"/>
                          <a:ea typeface="Noto Sans" pitchFamily="34" charset="-122"/>
                          <a:cs typeface="Noto Sans" pitchFamily="34" charset="-120"/>
                        </a:rPr>
                        <a:t>UNITED-ONLY   </a:t>
                      </a:r>
                      <a:pPr indent="0" marL="0">
                        <a:buNone/>
                      </a:pPr>
                      <a:r>
                        <a:rPr lang="en-US" sz="900" dirty="0">
                          <a:solidFill>
                            <a:srgbClr val="1C252E"/>
                          </a:solidFill>
                          <a:latin typeface="Noto Sans" pitchFamily="34" charset="0"/>
                          <a:ea typeface="Noto Sans" pitchFamily="34" charset="-122"/>
                          <a:cs typeface="Noto Sans" pitchFamily="34" charset="-120"/>
                        </a:rPr>
                        <a:t>All travel insurance refund requests must be submitted in writing within 15 days of the effective date of the policy, provided it is not past the original departure date and no claim has been initiated. Requests may be emailed to united@travelguard.com or faxed to 715-345-2915.</a:t>
                      </a:r>
                      <a:endParaRPr lang="en-US" sz="1200" dirty="0">
                        <a:latin typeface="Noto Sans" charset="0"/>
                        <a:ea typeface="Noto Sans" charset="0"/>
                        <a:cs typeface="Noto Sans" charset="0"/>
                      </a:endParaRPr>
                    </a:p>
                  </a:txBody>
                  <a:tcPr marL="139700" marR="114300" marT="101600" marB="101600" anchor="t">
                    <a:lnL w="38100" cap="flat" cmpd="sng" algn="ctr">
                      <a:solidFill>
                        <a:srgbClr val="2167AE"/>
                      </a:solidFill>
                      <a:prstDash val="solid"/>
                      <a:round/>
                      <a:headEnd type="none" w="med" len="med"/>
                      <a:tailEnd type="none" w="med" len="med"/>
                    </a:lnL>
                    <a:lnR w="0" cap="flat" cmpd="sng" algn="ctr">
                      <a:noFill/>
                    </a:lnR>
                    <a:lnT w="0" cap="flat" cmpd="sng" algn="ctr">
                      <a:noFill/>
                    </a:lnT>
                    <a:lnB w="38100" cap="flat" cmpd="sng" algn="ctr">
                      <a:solidFill>
                        <a:srgbClr val="FFFFFF"/>
                      </a:solidFill>
                      <a:prstDash val="solid"/>
                      <a:round/>
                      <a:headEnd type="none" w="med" len="med"/>
                      <a:tailEnd type="none" w="med" len="med"/>
                    </a:lnB>
                    <a:solidFill>
                      <a:srgbClr val="E4EDF8"/>
                    </a:solidFill>
                  </a:tcPr>
                </a:tc>
              </a:tr>
              <a:tr h="0">
                <a:tc>
                  <a:txBody>
                    <a:bodyPr/>
                    <a:lstStyle/>
                    <a:p>
                      <a:pPr indent="0" marL="0">
                        <a:buNone/>
                      </a:pPr>
                      <a:r>
                        <a:rPr lang="en-US" sz="750" b="1" spc="100" kern="0" dirty="0">
                          <a:solidFill>
                            <a:srgbClr val="2167AE"/>
                          </a:solidFill>
                          <a:latin typeface="Noto Sans" pitchFamily="34" charset="0"/>
                          <a:ea typeface="Noto Sans" pitchFamily="34" charset="-122"/>
                          <a:cs typeface="Noto Sans" pitchFamily="34" charset="-120"/>
                        </a:rPr>
                        <a:t>UNITED-ONLY   </a:t>
                      </a:r>
                      <a:pPr indent="0" marL="0">
                        <a:buNone/>
                      </a:pPr>
                      <a:r>
                        <a:rPr lang="en-US" sz="900" dirty="0">
                          <a:solidFill>
                            <a:srgbClr val="1C252E"/>
                          </a:solidFill>
                          <a:latin typeface="Noto Sans" pitchFamily="34" charset="0"/>
                          <a:ea typeface="Noto Sans" pitchFamily="34" charset="-122"/>
                          <a:cs typeface="Noto Sans" pitchFamily="34" charset="-120"/>
                        </a:rPr>
                        <a:t>All policy changes such as: change in travel dates, change in trip cost, name corrections, mailing address updates, etc., can be made online by clicking here or emailing us at united@travelguard.com. Please do not send credit card information via email, only policy number(s) and requested changes.</a:t>
                      </a:r>
                      <a:endParaRPr lang="en-US" sz="1200" dirty="0">
                        <a:latin typeface="Noto Sans" charset="0"/>
                        <a:ea typeface="Noto Sans" charset="0"/>
                        <a:cs typeface="Noto Sans" charset="0"/>
                      </a:endParaRPr>
                    </a:p>
                  </a:txBody>
                  <a:tcPr marL="139700" marR="114300" marT="101600" marB="101600" anchor="t">
                    <a:lnL w="38100" cap="flat" cmpd="sng" algn="ctr">
                      <a:solidFill>
                        <a:srgbClr val="2167AE"/>
                      </a:solidFill>
                      <a:prstDash val="solid"/>
                      <a:round/>
                      <a:headEnd type="none" w="med" len="med"/>
                      <a:tailEnd type="none" w="med" len="med"/>
                    </a:lnL>
                    <a:lnR w="0" cap="flat" cmpd="sng" algn="ctr">
                      <a:noFill/>
                    </a:lnR>
                    <a:lnT w="0" cap="flat" cmpd="sng" algn="ctr">
                      <a:noFill/>
                    </a:lnT>
                    <a:lnB w="38100" cap="flat" cmpd="sng" algn="ctr">
                      <a:solidFill>
                        <a:srgbClr val="FFFFFF"/>
                      </a:solidFill>
                      <a:prstDash val="solid"/>
                      <a:round/>
                      <a:headEnd type="none" w="med" len="med"/>
                      <a:tailEnd type="none" w="med" len="med"/>
                    </a:lnB>
                    <a:solidFill>
                      <a:srgbClr val="E4EDF8"/>
                    </a:solidFill>
                  </a:tcPr>
                </a:tc>
              </a:tr>
              <a:tr h="0">
                <a:tc>
                  <a:txBody>
                    <a:bodyPr/>
                    <a:lstStyle/>
                    <a:p>
                      <a:pPr indent="0" marL="0">
                        <a:buNone/>
                      </a:pPr>
                      <a:r>
                        <a:rPr lang="en-US" sz="750" b="1" spc="100" kern="0" dirty="0">
                          <a:solidFill>
                            <a:srgbClr val="2167AE"/>
                          </a:solidFill>
                          <a:latin typeface="Noto Sans" pitchFamily="34" charset="0"/>
                          <a:ea typeface="Noto Sans" pitchFamily="34" charset="-122"/>
                          <a:cs typeface="Noto Sans" pitchFamily="34" charset="-120"/>
                        </a:rPr>
                        <a:t>UNITED-ONLY   </a:t>
                      </a:r>
                      <a:pPr indent="0" marL="0">
                        <a:buNone/>
                      </a:pPr>
                      <a:r>
                        <a:rPr lang="en-US" sz="900" dirty="0">
                          <a:solidFill>
                            <a:srgbClr val="1C252E"/>
                          </a:solidFill>
                          <a:latin typeface="Noto Sans" pitchFamily="34" charset="0"/>
                          <a:ea typeface="Noto Sans" pitchFamily="34" charset="-122"/>
                          <a:cs typeface="Noto Sans" pitchFamily="34" charset="-120"/>
                        </a:rPr>
                        <a:t>IMPORTANT: If you cancel your United Airlines reservation or make any changes to your reservation, you will need to update your travel insurance policy via the self service options above or by contacting Travel Guard directly.</a:t>
                      </a:r>
                      <a:endParaRPr lang="en-US" sz="1200" dirty="0">
                        <a:latin typeface="Noto Sans" charset="0"/>
                        <a:ea typeface="Noto Sans" charset="0"/>
                        <a:cs typeface="Noto Sans" charset="0"/>
                      </a:endParaRPr>
                    </a:p>
                  </a:txBody>
                  <a:tcPr marL="139700" marR="114300" marT="101600" marB="101600" anchor="t">
                    <a:lnL w="38100" cap="flat" cmpd="sng" algn="ctr">
                      <a:solidFill>
                        <a:srgbClr val="2167AE"/>
                      </a:solidFill>
                      <a:prstDash val="solid"/>
                      <a:round/>
                      <a:headEnd type="none" w="med" len="med"/>
                      <a:tailEnd type="none" w="med" len="med"/>
                    </a:lnL>
                    <a:lnR w="0" cap="flat" cmpd="sng" algn="ctr">
                      <a:noFill/>
                    </a:lnR>
                    <a:lnT w="0" cap="flat" cmpd="sng" algn="ctr">
                      <a:noFill/>
                    </a:lnT>
                    <a:lnB w="38100" cap="flat" cmpd="sng" algn="ctr">
                      <a:solidFill>
                        <a:srgbClr val="FFFFFF"/>
                      </a:solidFill>
                      <a:prstDash val="solid"/>
                      <a:round/>
                      <a:headEnd type="none" w="med" len="med"/>
                      <a:tailEnd type="none" w="med" len="med"/>
                    </a:lnB>
                    <a:solidFill>
                      <a:srgbClr val="E4EDF8"/>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Enjoy your travel and thank you for choosing Travel Guard travel insurance for your upcoming trip!</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If you have any questions please contact our 24-hour World Service Center at: 1-877-934-8308</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8D9296"/>
                          </a:solidFill>
                          <a:latin typeface="Noto Sans" pitchFamily="34" charset="0"/>
                          <a:ea typeface="Noto Sans" pitchFamily="34" charset="-122"/>
                          <a:cs typeface="Noto Sans" pitchFamily="34" charset="-120"/>
                        </a:rPr>
                        <a:t>¹ Policy information is only accessible via the above link for one year past your travel return date.</a:t>
                      </a:r>
                      <a:endParaRPr lang="en-US" sz="8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45352" y="1298448"/>
          <a:ext cx="5486400" cy="914400"/>
        </p:xfrm>
        <a:graphic>
          <a:graphicData uri="http://schemas.openxmlformats.org/drawingml/2006/table">
            <a:tbl>
              <a:tblPr/>
              <a:tblGrid>
                <a:gridCol w="5486400"/>
              </a:tblGrid>
              <a:tr h="0">
                <a:tc>
                  <a:txBody>
                    <a:bodyPr/>
                    <a:lstStyle/>
                    <a:p>
                      <a:pPr indent="0" marL="0">
                        <a:buNone/>
                      </a:pPr>
                      <a:r>
                        <a:rPr lang="en-US" sz="1300" b="1" dirty="0">
                          <a:solidFill>
                            <a:srgbClr val="FFFFFF"/>
                          </a:solidFill>
                          <a:latin typeface="Noto Sans" pitchFamily="34" charset="0"/>
                          <a:ea typeface="Noto Sans" pitchFamily="34" charset="-122"/>
                          <a:cs typeface="Noto Sans" pitchFamily="34" charset="-120"/>
                        </a:rPr>
                        <a:t>ROW shared template — copy</a:t>
                      </a:r>
                      <a:endParaRPr lang="en-US" sz="1300" dirty="0">
                        <a:latin typeface="Noto Sans" charset="0"/>
                        <a:ea typeface="Noto Sans" charset="0"/>
                        <a:cs typeface="Noto Sans" charset="0"/>
                      </a:endParaRPr>
                    </a:p>
                  </a:txBody>
                  <a:tcPr marL="152400" marR="127000" marT="88900" marB="88900" anchor="ctr">
                    <a:lnL w="0" cap="flat" cmpd="sng" algn="ctr">
                      <a:noFill/>
                    </a:lnL>
                    <a:lnR w="0" cap="flat" cmpd="sng" algn="ctr">
                      <a:noFill/>
                    </a:lnR>
                    <a:lnT w="0" cap="flat" cmpd="sng" algn="ctr">
                      <a:noFill/>
                    </a:lnT>
                    <a:lnB w="0" cap="flat" cmpd="sng" algn="ctr">
                      <a:noFill/>
                    </a:lnB>
                    <a:solidFill>
                      <a:srgbClr val="003D6E"/>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Hello {{firstName}} {{lastName}}, thank you for purchasing a travel insurance plan from Travel Guard. Your Policy Number is {{policyNumber}}. Please review your Policy of Insurance by clicking on the “Policy of Insurance” link at the top of your policy summary page which can be accessed ¹here.</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If you have any questions please contact our 24-hour World Service Center at: {{CustomerServicesContactNumber}}</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Enjoy your travel and thank you for choosing Travel Guard for your upcoming trip!</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C252E"/>
                          </a:solidFill>
                          <a:latin typeface="Noto Sans" pitchFamily="34" charset="0"/>
                          <a:ea typeface="Noto Sans" pitchFamily="34" charset="-122"/>
                          <a:cs typeface="Noto Sans" pitchFamily="34" charset="-120"/>
                        </a:rPr>
                        <a:t>Need to file a claim? You can now file a claim online. Click here to get started.</a:t>
                      </a:r>
                      <a:endParaRPr lang="en-US" sz="9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9525" cap="flat" cmpd="sng" algn="ctr">
                      <a:solidFill>
                        <a:srgbClr val="E6E7E8"/>
                      </a:solidFill>
                      <a:prstDash val="solid"/>
                      <a:round/>
                      <a:headEnd type="none" w="med" len="med"/>
                      <a:tailEnd type="none" w="med" len="med"/>
                    </a:lnB>
                    <a:solidFill>
                      <a:srgbClr val="FFFFFF"/>
                    </a:solidFill>
                  </a:tcPr>
                </a:tc>
              </a:tr>
              <a:tr h="0">
                <a:tc>
                  <a:txBody>
                    <a:bodyPr/>
                    <a:lstStyle/>
                    <a:p>
                      <a:pPr indent="0" marL="0">
                        <a:buNone/>
                      </a:pPr>
                      <a:r>
                        <a:rPr lang="en-US" sz="750" b="1" spc="100" kern="0" dirty="0">
                          <a:solidFill>
                            <a:srgbClr val="32928E"/>
                          </a:solidFill>
                          <a:latin typeface="Noto Sans" pitchFamily="34" charset="0"/>
                          <a:ea typeface="Noto Sans" pitchFamily="34" charset="-122"/>
                          <a:cs typeface="Noto Sans" pitchFamily="34" charset="-120"/>
                        </a:rPr>
                        <a:t>ROW-ONLY   </a:t>
                      </a:r>
                      <a:pPr indent="0" marL="0">
                        <a:buNone/>
                      </a:pPr>
                      <a:r>
                        <a:rPr lang="en-US" sz="900" dirty="0">
                          <a:solidFill>
                            <a:srgbClr val="1C252E"/>
                          </a:solidFill>
                          <a:latin typeface="Noto Sans" pitchFamily="34" charset="0"/>
                          <a:ea typeface="Noto Sans" pitchFamily="34" charset="-122"/>
                          <a:cs typeface="Noto Sans" pitchFamily="34" charset="-120"/>
                        </a:rPr>
                        <a:t>Click here to access our Self-Service page which allows you to view your claim online, modify your policy, view FAQs and more.</a:t>
                      </a:r>
                      <a:endParaRPr lang="en-US" sz="1200" dirty="0">
                        <a:latin typeface="Noto Sans" charset="0"/>
                        <a:ea typeface="Noto Sans" charset="0"/>
                        <a:cs typeface="Noto Sans" charset="0"/>
                      </a:endParaRPr>
                    </a:p>
                  </a:txBody>
                  <a:tcPr marL="139700" marR="114300" marT="101600" marB="101600" anchor="t">
                    <a:lnL w="38100" cap="flat" cmpd="sng" algn="ctr">
                      <a:solidFill>
                        <a:srgbClr val="32928E"/>
                      </a:solidFill>
                      <a:prstDash val="solid"/>
                      <a:round/>
                      <a:headEnd type="none" w="med" len="med"/>
                      <a:tailEnd type="none" w="med" len="med"/>
                    </a:lnL>
                    <a:lnR w="0" cap="flat" cmpd="sng" algn="ctr">
                      <a:noFill/>
                    </a:lnR>
                    <a:lnT w="0" cap="flat" cmpd="sng" algn="ctr">
                      <a:noFill/>
                    </a:lnT>
                    <a:lnB w="38100" cap="flat" cmpd="sng" algn="ctr">
                      <a:solidFill>
                        <a:srgbClr val="FFFFFF"/>
                      </a:solidFill>
                      <a:prstDash val="solid"/>
                      <a:round/>
                      <a:headEnd type="none" w="med" len="med"/>
                      <a:tailEnd type="none" w="med" len="med"/>
                    </a:lnB>
                    <a:solidFill>
                      <a:srgbClr val="E7F4F1"/>
                    </a:solidFill>
                  </a:tcPr>
                </a:tc>
              </a:tr>
              <a:tr h="0">
                <a:tc>
                  <a:txBody>
                    <a:bodyPr/>
                    <a:lstStyle/>
                    <a:p>
                      <a:pPr indent="0" marL="0">
                        <a:buNone/>
                      </a:pPr>
                      <a:r>
                        <a:rPr lang="en-US" sz="800" dirty="0">
                          <a:solidFill>
                            <a:srgbClr val="8D9296"/>
                          </a:solidFill>
                          <a:latin typeface="Noto Sans" pitchFamily="34" charset="0"/>
                          <a:ea typeface="Noto Sans" pitchFamily="34" charset="-122"/>
                          <a:cs typeface="Noto Sans" pitchFamily="34" charset="-120"/>
                        </a:rPr>
                        <a:t>¹ Policy information is only accessible via the above link for one year past your travel return date.</a:t>
                      </a:r>
                      <a:endParaRPr lang="en-US" sz="800" dirty="0">
                        <a:latin typeface="Noto Sans" charset="0"/>
                        <a:ea typeface="Noto Sans" charset="0"/>
                        <a:cs typeface="Noto Sans" charset="0"/>
                      </a:endParaRPr>
                    </a:p>
                  </a:txBody>
                  <a:tcPr marL="88900" marR="88900" marT="50800" marB="50800" anchor="t">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p:nvPr/>
        </p:nvSpPr>
        <p:spPr>
          <a:xfrm>
            <a:off x="457200" y="6455664"/>
            <a:ext cx="7315200" cy="274320"/>
          </a:xfrm>
          <a:prstGeom prst="rect">
            <a:avLst/>
          </a:prstGeom>
          <a:noFill/>
          <a:ln/>
        </p:spPr>
        <p:txBody>
          <a:bodyPr wrap="square" rtlCol="0" anchor="ctr"/>
          <a:lstStyle/>
          <a:p>
            <a:pPr indent="0" marL="0">
              <a:buNone/>
            </a:pPr>
            <a:r>
              <a:rPr lang="en-US" sz="900" dirty="0">
                <a:solidFill>
                  <a:srgbClr val="8D9296"/>
                </a:solidFill>
                <a:latin typeface="Noto Sans" pitchFamily="34" charset="0"/>
                <a:ea typeface="Noto Sans" pitchFamily="34" charset="-122"/>
                <a:cs typeface="Noto Sans" pitchFamily="34" charset="-120"/>
              </a:rPr>
              <a:t>Travel Guard  ·  ROW template consolidation</a:t>
            </a:r>
            <a:endParaRPr lang="en-US" sz="900" dirty="0"/>
          </a:p>
        </p:txBody>
      </p:sp>
      <p:pic>
        <p:nvPicPr>
          <p:cNvPr id="7" name="Image 0" descr="C:\Users\STUART.SANTOS\AppData\Local\Temp\claude\C--Users-STUART-SANTOS-OneDrive---Zurich-Insurance-emails-new\53a2f86d-ba6a-427d-9f25-b45ae11190e0\scratchpad\logo-navy.png">    </p:cNvPr>
          <p:cNvPicPr>
            <a:picLocks noChangeAspect="1"/>
          </p:cNvPicPr>
          <p:nvPr/>
        </p:nvPicPr>
        <p:blipFill>
          <a:blip r:embed="rId1"/>
          <a:stretch>
            <a:fillRect/>
          </a:stretch>
        </p:blipFill>
        <p:spPr>
          <a:xfrm>
            <a:off x="10607040" y="6355080"/>
            <a:ext cx="1143000" cy="3410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United → shared ROW template</dc:title>
  <dc:subject>PptxGenJS Presentation</dc:subject>
  <dc:creator>Travel Guard</dc:creator>
  <cp:lastModifiedBy>Travel Guard</cp:lastModifiedBy>
  <cp:revision>1</cp:revision>
  <dcterms:created xsi:type="dcterms:W3CDTF">2026-07-15T19:46:06Z</dcterms:created>
  <dcterms:modified xsi:type="dcterms:W3CDTF">2026-07-15T19:46:06Z</dcterms:modified>
</cp:coreProperties>
</file>